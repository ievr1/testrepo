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Σκαρίφημα Συστήματος Συναλλαγών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0AEC0"/>
                </a:solidFill>
              </a:defRPr>
            </a:pPr>
            <a:r>
              <a:t>Πού «ζει» το ρίσκο σε κάθε επίπεδο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182CE"/>
                </a:solidFill>
              </a:defRPr>
            </a:pPr>
            <a:r>
              <a:t>Trading  →  Intermediation  →  Clearing/Settlement  →  Custody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Τα 4 Επίπεδα — Επισκόπηση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Από το match μέχρι την τελική αποθήκευση assets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10515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9903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182CE"/>
                </a:solidFill>
              </a:defRPr>
            </a:pPr>
            <a:r>
              <a:t>1. TRADING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1859A"/>
                </a:solidFill>
              </a:defRPr>
            </a:pPr>
            <a:r>
              <a:t>Tradeweb κ.λπ.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463039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Match &amp;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53030"/>
                </a:solidFill>
              </a:defRPr>
            </a:pPr>
            <a:r>
              <a:t>⚠ Market risk · Execution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463039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A"/>
                </a:solidFill>
              </a:defRPr>
            </a:pPr>
            <a:r>
              <a:t>❌ Χωρίς transfer χρημάτων/τίτλων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52160" y="2350008"/>
            <a:ext cx="320040" cy="256032"/>
          </a:xfrm>
          <a:prstGeom prst="downArrow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624328"/>
            <a:ext cx="1124712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24328"/>
            <a:ext cx="109728" cy="105156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05AD5"/>
                </a:solidFill>
              </a:defRPr>
            </a:pPr>
            <a:r>
              <a:t>2. INTERMEDIATION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1859A"/>
                </a:solidFill>
              </a:defRPr>
            </a:pPr>
            <a:r>
              <a:t>Tradition κ.λπ.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6148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Broker / Matched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61488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53030"/>
                </a:solidFill>
              </a:defRPr>
            </a:pPr>
            <a:r>
              <a:t>⚠ Broker credit · Operational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76148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A"/>
                </a:solidFill>
              </a:defRPr>
            </a:pPr>
            <a:r>
              <a:t>Νομική μεσολάβηση στο trade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852160" y="3648456"/>
            <a:ext cx="320040" cy="256032"/>
          </a:xfrm>
          <a:prstGeom prst="downArrow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922776"/>
            <a:ext cx="1124712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22776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9592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3. CLEARING / SETTLEMENT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1859A"/>
                </a:solidFill>
              </a:defRPr>
            </a:pPr>
            <a:r>
              <a:t>DVP / CCP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9936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Cash ↔ Securities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59936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53030"/>
                </a:solidFill>
              </a:defRPr>
            </a:pPr>
            <a:r>
              <a:t>⚠ Principal (↓) · CCP default · Settlement 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59936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A"/>
                </a:solidFill>
              </a:defRPr>
            </a:pPr>
            <a:r>
              <a:t>Το κρίσιμο σημείο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852160" y="4946904"/>
            <a:ext cx="320040" cy="256032"/>
          </a:xfrm>
          <a:prstGeom prst="downArrow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5221224"/>
            <a:ext cx="1124712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21224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9437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 CUSTODY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6869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1859A"/>
                </a:solidFill>
              </a:defRPr>
            </a:pPr>
            <a:r>
              <a:t>Custodian Bank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358384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Segregated / Omnibus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58384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53030"/>
                </a:solidFill>
              </a:defRPr>
            </a:pPr>
            <a:r>
              <a:t>⚠ Insolvency · Legal ownership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358384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A"/>
                </a:solidFill>
              </a:defRPr>
            </a:pPr>
            <a:r>
              <a:t>Τελική «αποθήκη»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1: Trading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π.χ. Tradeweb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3182CE"/>
                </a:solidFill>
              </a:defRPr>
            </a:pPr>
            <a:r>
              <a:t>Τι συμβαίνει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Buyer και Seller συμφωνούν τιμή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Το trade "matches"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Δημιουργείται confirmation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94960" cy="2560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C53030"/>
                </a:solidFill>
              </a:defRPr>
            </a:pPr>
            <a:r>
              <a:t>ΡΙΣΚΑ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Market risk (microseconds/minutes) μέχρι lock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Execution risk (λάθος price / partial fills)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6263640"/>
            <a:ext cx="11155680" cy="5029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200" i="1">
                <a:solidFill>
                  <a:srgbClr val="1A2B4A"/>
                </a:solidFill>
              </a:defRPr>
            </a:pPr>
            <a:r>
              <a:t>👉 Δεν υπάρχει ακόμα transfer χρημάτων ή τίτλων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2: Intermediation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π.χ. Tradition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805AD5"/>
                </a:solidFill>
              </a:defRPr>
            </a:pPr>
            <a:r>
              <a:t>Τι συμβαίνει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Φέρνει counterparties μαζί (voice ή electronic)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Κρατά «νομική μεσολάβηση» στο trade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Pure broker (agency) ή matched principal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94960" cy="2560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C53030"/>
                </a:solidFill>
              </a:defRPr>
            </a:pPr>
            <a:r>
              <a:t>ΡΙΣΚΑ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Broker credit risk — πτώχευση πριν settlement, λάθος segregation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Operational risk — λάθη trade details, mismatch confirmations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11155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2D3748"/>
                </a:solidFill>
              </a:defRPr>
            </a:pPr>
            <a:r>
              <a:t>Τύποι intermediation:</a:t>
            </a:r>
          </a:p>
          <a:p>
            <a:pPr>
              <a:spcAft>
                <a:spcPts val="300"/>
              </a:spcAft>
              <a:defRPr sz="1200">
                <a:solidFill>
                  <a:srgbClr val="2D3748"/>
                </a:solidFill>
              </a:defRPr>
            </a:pPr>
            <a:r>
              <a:t>  → Agency broker (pure broker)</a:t>
            </a:r>
          </a:p>
          <a:p>
            <a:pPr>
              <a:spcAft>
                <a:spcPts val="300"/>
              </a:spcAft>
              <a:defRPr sz="1200">
                <a:solidFill>
                  <a:srgbClr val="2D3748"/>
                </a:solidFill>
              </a:defRPr>
            </a:pPr>
            <a:r>
              <a:t>  → Matched principal (προσωρινό exposure)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11155680" cy="5029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200" i="1">
                <a:solidFill>
                  <a:srgbClr val="1A2B4A"/>
                </a:solidFill>
              </a:defRPr>
            </a:pPr>
            <a:r>
              <a:t>👉 Μπορεί να χαθεί operational control του trade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3: Clearing &amp;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DVP / CCP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Τι συμβαίνει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DVP: τίτλος ↔ cash ανταλλάσσονται ταυτόχρονα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CCP (αν υπάρχει): γίνεται ενδιάμεσος counterparty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94960" cy="2560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C53030"/>
                </a:solidFill>
              </a:defRPr>
            </a:pPr>
            <a:r>
              <a:t>ΡΙΣΚΑ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Principal risk — ΣΧΕΔΟΝ εξαφανίζεται (δεν πληρώνεις χωρίς delivery)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CCP default risk — σπάνιο αλλά systemic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Settlement fail risk — technical/operational, fails to deliver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6263640"/>
            <a:ext cx="11155680" cy="5029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200" i="1">
                <a:solidFill>
                  <a:srgbClr val="1A2B4A"/>
                </a:solidFill>
              </a:defRPr>
            </a:pPr>
            <a:r>
              <a:t>👉 Το κρίσιμο σημείο του συστήματος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4: Custody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Τελική αποθήκη assets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059669"/>
                </a:solidFill>
              </a:defRPr>
            </a:pPr>
            <a:r>
              <a:t>Τι συμβαίνει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Assets σε custodian bank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Omnibus accounts ή segregated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94960" cy="2560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C53030"/>
                </a:solidFill>
              </a:defRPr>
            </a:pPr>
            <a:r>
              <a:t>ΡΙΣΚΑ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Custodian insolvency risk — τι γίνεται με segregation;</a:t>
            </a:r>
          </a:p>
          <a:p>
            <a:pPr>
              <a:spcAft>
                <a:spcPts val="400"/>
              </a:spcAft>
              <a:defRPr sz="1200">
                <a:solidFill>
                  <a:srgbClr val="2D3748"/>
                </a:solidFill>
              </a:defRPr>
            </a:pPr>
            <a:r>
              <a:t>• Legal ownership risk — «whose name is the asset in?»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 FLOW —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Πώς ρέει ένα trade από match μέχρι custody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00200"/>
            <a:ext cx="88696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  <a:latin typeface="Courier New"/>
              </a:defRPr>
            </a:pPr>
            <a:r>
              <a:t>Trader A                    Trader B</a:t>
            </a:r>
            <a:br/>
            <a:r>
              <a:t>    |                            |</a:t>
            </a:r>
            <a:br/>
            <a:r>
              <a:t>    +-------- Tradeweb / Broker (Tradition) --------+</a:t>
            </a:r>
            <a:br/>
            <a:r>
              <a:t>    |              match / confirmation              |</a:t>
            </a:r>
            <a:br/>
            <a:r>
              <a:t>    +------------------------+-----------------------+</a:t>
            </a:r>
            <a:br/>
            <a:r>
              <a:t>                             |</a:t>
            </a:r>
            <a:br/>
            <a:r>
              <a:t>                             v</a:t>
            </a:r>
            <a:br/>
            <a:r>
              <a:t>                  Trade enriched &amp; confirmed</a:t>
            </a:r>
            <a:br/>
            <a:r>
              <a:t>                             |</a:t>
            </a:r>
            <a:br/>
            <a:r>
              <a:t>                             v</a:t>
            </a:r>
            <a:br/>
            <a:r>
              <a:t>              CCP or bilateral DVP settlement</a:t>
            </a:r>
            <a:br/>
            <a:r>
              <a:t>              (cash &lt;-&gt; securities exchange)</a:t>
            </a:r>
            <a:br/>
            <a:r>
              <a:t>                             |</a:t>
            </a:r>
            <a:br/>
            <a:r>
              <a:t>                             v</a:t>
            </a:r>
            <a:br/>
            <a:r>
              <a:t>                    Custodian accounts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34747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600"/>
              </a:spcAft>
              <a:defRPr sz="1300" b="1">
                <a:solidFill>
                  <a:srgbClr val="3182CE"/>
                </a:solidFill>
              </a:defRPr>
            </a:pPr>
            <a:r>
              <a:t>Πριν το settlement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→ Market + counterparty expectation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5120640"/>
            <a:ext cx="34747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Κατά το settlement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→ Operational + liquidity + system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120640"/>
            <a:ext cx="34747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Μετά το settlement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→ Custody + legal ownership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Το Κρίσιμο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2011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C53030"/>
                </a:solidFill>
              </a:defRPr>
            </a:pPr>
            <a:r>
              <a:t>DVP ΔΕΝ σημαίνει:</a:t>
            </a:r>
          </a:p>
          <a:p>
            <a:pPr>
              <a:defRPr sz="2200" i="1">
                <a:solidFill>
                  <a:srgbClr val="2D3748"/>
                </a:solidFill>
              </a:defRPr>
            </a:pPr>
            <a:r>
              <a:t>"Δεν υπάρχει ρίσκο"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03520" cy="201168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059669"/>
                </a:solidFill>
              </a:defRPr>
            </a:pPr>
            <a:r>
              <a:t>DVP ΣΗΜΑΙΝΕΙ: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Το πιο επικίνδυνο ρίσκο</a:t>
            </a:r>
            <a:br/>
            <a:r>
              <a:t>(loss of principal από exchange failure)</a:t>
            </a:r>
            <a:br/>
            <a:r>
              <a:t>έχει σχεδόν μηδενιστεί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15000" y="2148840"/>
            <a:ext cx="457200" cy="365760"/>
          </a:xfrm>
          <a:prstGeom prst="rightArrow">
            <a:avLst/>
          </a:prstGeom>
          <a:solidFill>
            <a:srgbClr val="718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Stress Test — 3 Ερωτήσεις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Ρώτα πάντα όταν βλέπεις πλατφόρμα ή broker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D3748"/>
                </a:solidFill>
              </a:defRPr>
            </a:pPr>
            <a:r>
              <a:t>Αν αυτός ο intermediate εξαφανιστεί:</a:t>
            </a:r>
          </a:p>
          <a:p>
            <a:pPr>
              <a:defRPr sz="1200">
                <a:solidFill>
                  <a:srgbClr val="71859A"/>
                </a:solidFill>
              </a:defRPr>
            </a:pPr>
            <a:r>
              <a:t>   → Το trade ακυρώνεται;</a:t>
            </a:r>
          </a:p>
          <a:p>
            <a:pPr>
              <a:defRPr sz="1200">
                <a:solidFill>
                  <a:srgbClr val="71859A"/>
                </a:solidFill>
              </a:defRPr>
            </a:pPr>
            <a:r>
              <a:t>   → Εκτελείται κανονικά μέσω CCP;</a:t>
            </a:r>
          </a:p>
          <a:p>
            <a:pPr>
              <a:defRPr sz="1200">
                <a:solidFill>
                  <a:srgbClr val="71859A"/>
                </a:solidFill>
              </a:defRPr>
            </a:pPr>
            <a:r>
              <a:t>   → Ή «μένει στον αέρα»;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11064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D3748"/>
                </a:solidFill>
              </a:defRPr>
            </a:pPr>
            <a:r>
              <a:t>Πού είναι το legal counterparty;</a:t>
            </a:r>
          </a:p>
          <a:p>
            <a:pPr>
              <a:defRPr sz="1200">
                <a:solidFill>
                  <a:srgbClr val="71859A"/>
                </a:solidFill>
              </a:defRPr>
            </a:pPr>
            <a:r>
              <a:t>   → Broker;</a:t>
            </a:r>
          </a:p>
          <a:p>
            <a:pPr>
              <a:defRPr sz="1200">
                <a:solidFill>
                  <a:srgbClr val="71859A"/>
                </a:solidFill>
              </a:defRPr>
            </a:pPr>
            <a:r>
              <a:t>   → CCP;</a:t>
            </a:r>
          </a:p>
          <a:p>
            <a:pPr>
              <a:defRPr sz="1200">
                <a:solidFill>
                  <a:srgbClr val="71859A"/>
                </a:solidFill>
              </a:defRPr>
            </a:pPr>
            <a:r>
              <a:t>   → Τελικός client;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064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D3748"/>
                </a:solidFill>
              </a:defRPr>
            </a:pPr>
            <a:r>
              <a:t>Πού κρατιούνται τα assets;</a:t>
            </a:r>
          </a:p>
          <a:p>
            <a:pPr>
              <a:defRPr sz="1200">
                <a:solidFill>
                  <a:srgbClr val="71859A"/>
                </a:solidFill>
              </a:defRPr>
            </a:pPr>
            <a:r>
              <a:t>   → Segregated custodian;</a:t>
            </a:r>
          </a:p>
          <a:p>
            <a:pPr>
              <a:defRPr sz="1200">
                <a:solidFill>
                  <a:srgbClr val="71859A"/>
                </a:solidFill>
              </a:defRPr>
            </a:pPr>
            <a:r>
              <a:t>   → Omnibus account;</a:t>
            </a:r>
          </a:p>
          <a:p>
            <a:pPr>
              <a:defRPr sz="1200">
                <a:solidFill>
                  <a:srgbClr val="71859A"/>
                </a:solidFill>
              </a:defRPr>
            </a:pPr>
            <a:r>
              <a:t>   → Broker balance sheet;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71859A"/>
                </a:solidFill>
              </a:defRPr>
            </a:pPr>
            <a:r>
              <a:t>Επόμενο βήμα: margining · dealer exposure παρά το DVP · Lehman-style failure chains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